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</a:defRPr>
            </a:pPr>
            <a:r>
              <a:t>SMART INDIA HACKATHON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2C57"/>
                </a:solidFill>
              </a:defRPr>
            </a:pPr>
            <a:r>
              <a:t>Basic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377440"/>
            <a:ext cx="9448495" cy="3840480"/>
          </a:xfrm>
          <a:prstGeom prst="round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102C57"/>
                </a:solidFill>
              </a:rPr>
              <a:t>•  Problem Statement ID : </a:t>
            </a:r>
            <a:r>
              <a:rPr b="0" sz="1500">
                <a:solidFill>
                  <a:srgbClr val="1E293B"/>
                </a:solidFill>
              </a:rPr>
              <a:t>SIH-2025-ED104 (Campus Automation &amp; Student Welfare)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02C57"/>
                </a:solidFill>
              </a:rPr>
              <a:t>•  Problem Statement Title : </a:t>
            </a:r>
            <a:r>
              <a:rPr b="0" sz="1500">
                <a:solidFill>
                  <a:srgbClr val="1E293B"/>
                </a:solidFill>
              </a:rPr>
              <a:t>Development of a Smart Digital Platform for Automated Hostel Room Allotment &amp; Mess Management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02C57"/>
                </a:solidFill>
              </a:rPr>
              <a:t>•  Theme : </a:t>
            </a:r>
            <a:r>
              <a:rPr b="0" sz="1500">
                <a:solidFill>
                  <a:srgbClr val="1E293B"/>
                </a:solidFill>
              </a:rPr>
              <a:t>Smart Education / Smart Automation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02C57"/>
                </a:solidFill>
              </a:rPr>
              <a:t>•  PS Category : </a:t>
            </a:r>
            <a:r>
              <a:rPr b="0" sz="150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02C57"/>
                </a:solidFill>
              </a:rPr>
              <a:t>•  Team ID : </a:t>
            </a:r>
            <a:r>
              <a:rPr b="0" sz="1500">
                <a:solidFill>
                  <a:srgbClr val="1E293B"/>
                </a:solidFill>
              </a:rPr>
              <a:t>76239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02C57"/>
                </a:solidFill>
              </a:rPr>
              <a:t>•  Team Name : </a:t>
            </a:r>
            <a:r>
              <a:rPr b="0" sz="1500">
                <a:solidFill>
                  <a:srgbClr val="1E293B"/>
                </a:solidFill>
              </a:rPr>
              <a:t>Bit-Storm / HostelHub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02C57"/>
                </a:solidFill>
              </a:rPr>
              <a:t>•  Institution : </a:t>
            </a:r>
            <a:r>
              <a:rPr b="0" sz="1500">
                <a:solidFill>
                  <a:srgbClr val="1E293B"/>
                </a:solidFill>
              </a:rPr>
              <a:t>University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SMART INDIA HACKATHON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HostelHub | Team 76239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01168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2C57"/>
                </a:solidFill>
              </a:defRPr>
            </a:pPr>
            <a:r>
              <a:t>CHALLENGES &amp;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- Template    |    Slide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3035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50292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580C"/>
                </a:solidFill>
              </a:defRPr>
            </a:pPr>
            <a:r>
              <a:t>Challenges and Problems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Manual Paper Registers: Fragmented room records leading to double-booking &amp; disputes.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Zero Real-Time Visibility: Wardens lack live metrics on vacant beds and wing-wise capacity.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Untracked Maintenance Delays: Student complaints (plumbing, electrical) get lost without audit trails.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Opaque Mess Operations: No systematic way for students to view weekly menus or report poor food quality.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Role Confusion: Lack of secure, role-segregated access between wardens, staff, and hostelers.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66160"/>
            <a:ext cx="53035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50292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9567"/>
                </a:solidFill>
              </a:defRPr>
            </a:pPr>
            <a:r>
              <a:t>Proposed Solution — HostelHub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02C57"/>
                </a:solidFill>
              </a:rPr>
              <a:t>➢ Automated Capacity-Enforced Allotment Engine: </a:t>
            </a:r>
            <a:r>
              <a:rPr sz="850">
                <a:solidFill>
                  <a:srgbClr val="1E293B"/>
                </a:solidFill>
              </a:rPr>
              <a:t>Prevents over-allocation via atomic bed calculations and live vacancy filters for Single, Double, and Triple rooms.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02C57"/>
                </a:solidFill>
              </a:rPr>
              <a:t>➢ 3-Tier Maintenance Complaint Lifecycle: </a:t>
            </a:r>
            <a:r>
              <a:rPr sz="850">
                <a:solidFill>
                  <a:srgbClr val="1E293B"/>
                </a:solidFill>
              </a:rPr>
              <a:t>Full ticket tracking from 'Pending' to 'In Progress' to 'Resolved' with technician notes and timestamped accountability.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02C57"/>
                </a:solidFill>
              </a:rPr>
              <a:t>➢ Dynamic 7-Day Mess Operations &amp; Feedback Loop: </a:t>
            </a:r>
            <a:r>
              <a:rPr sz="850">
                <a:solidFill>
                  <a:srgbClr val="1E293B"/>
                </a:solidFill>
              </a:rPr>
              <a:t>Interactive 7-day schedule with a 1-to-5 star student meal feedback engine to drive caterer accountability.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02C57"/>
                </a:solidFill>
              </a:rPr>
              <a:t>➢ Dual Role-Segregated Portals: </a:t>
            </a:r>
            <a:r>
              <a:rPr sz="850">
                <a:solidFill>
                  <a:srgbClr val="1E293B"/>
                </a:solidFill>
              </a:rPr>
              <a:t>Tailored dashboards for students (applications, complaints, room details) and wardens (analytics, approvals, inventory control).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0515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❖ Innovation and Uniqueness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560320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A56DB"/>
                </a:solidFill>
              </a:defRPr>
            </a:pPr>
            <a:r>
              <a:t>Capacity Auto-Sync</a:t>
            </a:r>
          </a:p>
          <a:p>
            <a:pPr>
              <a:defRPr sz="750">
                <a:solidFill>
                  <a:srgbClr val="1E293B"/>
                </a:solidFill>
              </a:defRPr>
            </a:pPr>
            <a:r>
              <a:t>Pre-save Mongoose hooks dynamically shift room states: Available → Partially Occupied → Full.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371600"/>
            <a:ext cx="256032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37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09567"/>
                </a:solidFill>
              </a:defRPr>
            </a:pPr>
            <a:r>
              <a:t>Live Bed Matrix</a:t>
            </a:r>
          </a:p>
          <a:p>
            <a:pPr>
              <a:defRPr sz="750">
                <a:solidFill>
                  <a:srgbClr val="1E293B"/>
                </a:solidFill>
              </a:defRPr>
            </a:pPr>
            <a:r>
              <a:t>Block-wise visual progress bars calculate vacancy rate in real time for Boys and Girls wings.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836128731600"/>
            <a:ext cx="256032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83612873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EA580C"/>
                </a:solidFill>
              </a:defRPr>
            </a:pPr>
            <a:r>
              <a:t>5-Star Meal Rating</a:t>
            </a:r>
          </a:p>
          <a:p>
            <a:pPr>
              <a:defRPr sz="750">
                <a:solidFill>
                  <a:srgbClr val="1E293B"/>
                </a:solidFill>
              </a:defRPr>
            </a:pPr>
            <a:r>
              <a:t>Students rate daily meals with comments; creates data-driven vendor quality scores.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836128731600"/>
            <a:ext cx="2560320" cy="82296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83612873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6D28D9"/>
                </a:solidFill>
              </a:defRPr>
            </a:pPr>
            <a:r>
              <a:t>Room Swap Engine</a:t>
            </a:r>
          </a:p>
          <a:p>
            <a:pPr>
              <a:defRPr sz="750">
                <a:solidFill>
                  <a:srgbClr val="1E293B"/>
                </a:solidFill>
              </a:defRPr>
            </a:pPr>
            <a:r>
              <a:t>Enables transparent room reallocation requests with automated reason audits.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200400"/>
            <a:ext cx="2560320" cy="8229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2004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02C57"/>
                </a:solidFill>
              </a:defRPr>
            </a:pPr>
            <a:r>
              <a:t>Zero-Framework SSR</a:t>
            </a:r>
          </a:p>
          <a:p>
            <a:pPr>
              <a:defRPr sz="750">
                <a:solidFill>
                  <a:srgbClr val="1E293B"/>
                </a:solidFill>
              </a:defRPr>
            </a:pPr>
            <a:r>
              <a:t>EJS + Vanilla CSS design delivers 10x faster load times with glassmorphic aesthetics.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1605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❖ How It Addresses the Problems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4805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850">
                <a:solidFill>
                  <a:srgbClr val="1A56DB"/>
                </a:solidFill>
              </a:rPr>
              <a:t>• Eliminates Double-Booking: </a:t>
            </a:r>
            <a:r>
              <a:rPr sz="850">
                <a:solidFill>
                  <a:srgbClr val="1E293B"/>
                </a:solidFill>
              </a:rPr>
              <a:t>Atomic Mongoose validations block allotments once room capacity is reached.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A56DB"/>
                </a:solidFill>
              </a:rPr>
              <a:t>• Transparency in Maintenance: </a:t>
            </a:r>
            <a:r>
              <a:rPr sz="850">
                <a:solidFill>
                  <a:srgbClr val="1E293B"/>
                </a:solidFill>
              </a:rPr>
              <a:t>Live status tags (Pending / In Progress / Resolved) hold wardens accountable.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A56DB"/>
                </a:solidFill>
              </a:rPr>
              <a:t>• Direct Student Democracy: </a:t>
            </a:r>
            <a:r>
              <a:rPr sz="850">
                <a:solidFill>
                  <a:srgbClr val="1E293B"/>
                </a:solidFill>
              </a:rPr>
              <a:t>Daily meal ratings prevent mess contractor negligence with logged evidence.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A56DB"/>
                </a:solidFill>
              </a:rPr>
              <a:t>• Session Security: </a:t>
            </a:r>
            <a:r>
              <a:rPr sz="850">
                <a:solidFill>
                  <a:srgbClr val="1E293B"/>
                </a:solidFill>
              </a:rPr>
              <a:t>HTTP-only cookie auth prevents token theft and ensures role isolation.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SMART INDIA HACKATHON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HostelHub | Team 76239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01168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2C57"/>
                </a:solidFill>
              </a:defRPr>
            </a:pPr>
            <a: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- Template    |    Slide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Methodology and Process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A56DB"/>
                </a:solidFill>
              </a:rPr>
              <a:t>o 1. Data Modeling &amp; Ingestion: </a:t>
            </a:r>
            <a:r>
              <a:rPr sz="850">
                <a:solidFill>
                  <a:srgbClr val="1E293B"/>
                </a:solidFill>
              </a:rPr>
              <a:t>Defined 8 modular Mongoose schemas (User, Block, Room, RoomRequest, RoomChangeRequest, MaintenanceRequest, MessMenu, MealFeedback).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A56DB"/>
                </a:solidFill>
              </a:rPr>
              <a:t>o 2. Role-Based Access Pipeline: </a:t>
            </a:r>
            <a:r>
              <a:rPr sz="850">
                <a:solidFill>
                  <a:srgbClr val="1E293B"/>
                </a:solidFill>
              </a:rPr>
              <a:t>Modular Express middleware (`isLoggedIn`, `isAdmin`, `isStudent`) verifies session privileges on every request.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A56DB"/>
                </a:solidFill>
              </a:rPr>
              <a:t>o 3. Capacity Allocation Engine: </a:t>
            </a:r>
            <a:r>
              <a:rPr sz="850">
                <a:solidFill>
                  <a:srgbClr val="1E293B"/>
                </a:solidFill>
              </a:rPr>
              <a:t>Validation algorithm checks room occupancy vs capacity atomically before confirming allotment.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A56DB"/>
                </a:solidFill>
              </a:rPr>
              <a:t>o 4. Lifecycle Management: </a:t>
            </a:r>
            <a:r>
              <a:rPr sz="850">
                <a:solidFill>
                  <a:srgbClr val="1E293B"/>
                </a:solidFill>
              </a:rPr>
              <a:t>Implemented CRUD workflows with status auto-sync for rooms and multi-stage ticket states for maintenance.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A56DB"/>
                </a:solidFill>
              </a:rPr>
              <a:t>o 5. Fast SSR Interface: </a:t>
            </a:r>
            <a:r>
              <a:rPr sz="850">
                <a:solidFill>
                  <a:srgbClr val="1E293B"/>
                </a:solidFill>
              </a:rPr>
              <a:t>Server-Side Rendered EJS views injected into a master layout with glassmorphism CSS.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80560"/>
            <a:ext cx="5486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26280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Technology Stack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02C57"/>
                </a:solidFill>
              </a:rPr>
              <a:t>• Backend : </a:t>
            </a:r>
            <a:r>
              <a:rPr sz="850">
                <a:solidFill>
                  <a:srgbClr val="1E293B"/>
                </a:solidFill>
              </a:rPr>
              <a:t>Node.js (v20+), Express.js 4.21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02C57"/>
                </a:solidFill>
              </a:rPr>
              <a:t>• Database : </a:t>
            </a:r>
            <a:r>
              <a:rPr sz="850">
                <a:solidFill>
                  <a:srgbClr val="1E293B"/>
                </a:solidFill>
              </a:rPr>
              <a:t>MongoDB, Mongoose 8.6 ODM (Compound Indexes &amp; Virtuals)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02C57"/>
                </a:solidFill>
              </a:rPr>
              <a:t>• Security &amp; Auth : </a:t>
            </a:r>
            <a:r>
              <a:rPr sz="850">
                <a:solidFill>
                  <a:srgbClr val="1E293B"/>
                </a:solidFill>
              </a:rPr>
              <a:t>Express-Session, Connect-Mongo, Bcrypt.js (10 rounds)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02C57"/>
                </a:solidFill>
              </a:rPr>
              <a:t>• Frontend &amp; UI : </a:t>
            </a:r>
            <a:r>
              <a:rPr sz="850">
                <a:solidFill>
                  <a:srgbClr val="1E293B"/>
                </a:solidFill>
              </a:rPr>
              <a:t>EJS Templates, HTML5 Semantic, Vanilla CSS (Dark Glassmorphism)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02C57"/>
                </a:solidFill>
              </a:rPr>
              <a:t>• Utilities : </a:t>
            </a:r>
            <a:r>
              <a:rPr sz="850">
                <a:solidFill>
                  <a:srgbClr val="1E293B"/>
                </a:solidFill>
              </a:rPr>
              <a:t>Connect-Flash, Method-Override, Morgan Logger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051560"/>
            <a:ext cx="5303520" cy="5257800"/>
          </a:xfrm>
          <a:prstGeom prst="round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1430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02C57"/>
                </a:solidFill>
              </a:defRPr>
            </a:pPr>
            <a:r>
              <a:t>System Architecture &amp; Execution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645920"/>
            <a:ext cx="47548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459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A56DB"/>
                </a:solidFill>
              </a:defRPr>
            </a:pPr>
            <a:r>
              <a:t>User Interaction Layer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Students (Request room, raise complaints, rate food)</a:t>
            </a:r>
            <a:br/>
            <a:r>
              <a:t>Admins (Allocate beds, resolve tickets, update menu)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651760"/>
            <a:ext cx="47548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6517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6D28D9"/>
                </a:solidFill>
              </a:defRPr>
            </a:pPr>
            <a:r>
              <a:t>Auth &amp; Security Pipeline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Express Session Store (connect-mongo) + Bcrypt Password Hashing + Role Checking Middleware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657600"/>
            <a:ext cx="47548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5760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09567"/>
                </a:solidFill>
              </a:defRPr>
            </a:pPr>
            <a:r>
              <a:t>Controller &amp; Business Logic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Admin Controller: Allotment capacity verification, ticket state machine</a:t>
            </a:r>
            <a:br/>
            <a:r>
              <a:t>Student Controller: Preference submission, feedback logging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663440"/>
            <a:ext cx="47548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6634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EA580C"/>
                </a:solidFill>
              </a:defRPr>
            </a:pPr>
            <a:r>
              <a:t>Mongoose Schema &amp; Storage Layer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MongoDB Collections: Users, Blocks, Rooms, RoomRequests, MaintenanceRequests, MessMenu, MealFeedback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SMART INDIA HACKATHON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HostelHub | Team 76239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01168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2C57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- Template    |    Slide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2697480" cy="24231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2697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1A56DB"/>
                </a:solidFill>
              </a:defRPr>
            </a:pPr>
            <a:r>
              <a:t>Technical Feasibility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• Built on Node.js and MongoDB — both mature, production-proven technologies.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• Minimal system requirements: Runs on lightweight cloud VMs or local institutional servers.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• Client devices require only a basic web browser on mobile, tablet, or desktop.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0188996640" y="1097280"/>
            <a:ext cx="2697480" cy="2423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9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0188996640" y="1097280"/>
            <a:ext cx="2697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109567"/>
                </a:solidFill>
              </a:defRPr>
            </a:pPr>
            <a:r>
              <a:t>Financial Feasibility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• Open-source software stack with zero licensing fees (Node, Express, MongoDB Community).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• Saves institutional administrative costs in manual paperwork, registers, and phone calls.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• Prevents food wastage through accurate mess demand forecasting via menu feedback.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41157705280"/>
            <a:ext cx="2697480" cy="242316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41157705280"/>
            <a:ext cx="2697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EA580C"/>
                </a:solidFill>
              </a:defRPr>
            </a:pPr>
            <a:r>
              <a:t>Operational Feasibility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• Intuitive UI requires zero technical training for students or hostel staff.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• Drop-in deployment: Pre-seeded data allows instant institutional onboarding.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• Unified dashboard reduces warden administrative workload by over 70%.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50188996640" y="2341157705280"/>
            <a:ext cx="2697480" cy="242316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50188996640" y="2341157705280"/>
            <a:ext cx="2697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6D28D9"/>
                </a:solidFill>
              </a:defRPr>
            </a:pPr>
            <a:r>
              <a:t>Campus &amp; Social Viability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• Eliminates bias and disputes through transparent, first-come first-served room allotment.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• Improves student hygiene and living standards via accountable maintenance tracking.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• Fosters constructive communication between hostelers and mess management.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8872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Strategies for Overcoming Implementation Challenges</a:t>
            </a:r>
          </a:p>
          <a:p>
            <a:pPr>
              <a:spcAft>
                <a:spcPts val="200"/>
              </a:spcAft>
              <a:defRPr sz="950" b="1">
                <a:solidFill>
                  <a:srgbClr val="1A56DB"/>
                </a:solidFill>
              </a:defRPr>
            </a:pPr>
            <a:r>
              <a:t>❖ TECHNICAL CHALLENGES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1E293B"/>
                </a:solidFill>
              </a:rPr>
              <a:t>• Concurrency &amp; Race Conditions: </a:t>
            </a:r>
            <a:r>
              <a:rPr sz="800">
                <a:solidFill>
                  <a:srgbClr val="64748B"/>
                </a:solidFill>
              </a:rPr>
              <a:t>Atomic database queries and capacity checks ensure two students cannot be booked into the last bed simultaneously.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1E293B"/>
                </a:solidFill>
              </a:rPr>
              <a:t>• Server Downtime: </a:t>
            </a:r>
            <a:r>
              <a:rPr sz="800">
                <a:solidFill>
                  <a:srgbClr val="64748B"/>
                </a:solidFill>
              </a:rPr>
              <a:t>Stateless Express instances with MongoDB Atlas replicas guarantee 99.9% uptime during peak admission season.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1E293B"/>
                </a:solidFill>
              </a:rPr>
              <a:t>• Low Bandwidth Accessibility: </a:t>
            </a:r>
            <a:r>
              <a:rPr sz="800">
                <a:solidFill>
                  <a:srgbClr val="64748B"/>
                </a:solidFill>
              </a:rPr>
              <a:t>Zero-framework CSS and optimized SVG icons allow fast loading even over 2G/3G campus mobile networks.</a:t>
            </a:r>
          </a:p>
          <a:p>
            <a:pPr>
              <a:spcAft>
                <a:spcPts val="200"/>
              </a:spcAft>
              <a:defRPr sz="950" b="1">
                <a:solidFill>
                  <a:srgbClr val="109567"/>
                </a:solidFill>
              </a:defRPr>
            </a:pPr>
            <a:r>
              <a:t>❖ FINANCIAL CHALLENGES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1E293B"/>
                </a:solidFill>
              </a:rPr>
              <a:t>• Zero Infrastructure Cost: </a:t>
            </a:r>
            <a:r>
              <a:rPr sz="800">
                <a:solidFill>
                  <a:srgbClr val="64748B"/>
                </a:solidFill>
              </a:rPr>
              <a:t>Can be self-hosted on college data centers or free-tier cloud platforms (Render, Railway, Atlas).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1E293B"/>
                </a:solidFill>
              </a:rPr>
              <a:t>• Long-Term Maintenance: </a:t>
            </a:r>
            <a:r>
              <a:rPr sz="800">
                <a:solidFill>
                  <a:srgbClr val="64748B"/>
                </a:solidFill>
              </a:rPr>
              <a:t>Simple JavaScript codebase allows student IT clubs or campus interns to maintain and extend the software.</a:t>
            </a:r>
          </a:p>
          <a:p>
            <a:pPr>
              <a:spcAft>
                <a:spcPts val="200"/>
              </a:spcAft>
              <a:defRPr sz="950" b="1">
                <a:solidFill>
                  <a:srgbClr val="EA580C"/>
                </a:solidFill>
              </a:defRPr>
            </a:pPr>
            <a:r>
              <a:t>❖ OPERATIONAL &amp; ADOPTION CHALLENGES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1E293B"/>
                </a:solidFill>
              </a:rPr>
              <a:t>• User Onboarding: </a:t>
            </a:r>
            <a:r>
              <a:rPr sz="800">
                <a:solidFill>
                  <a:srgbClr val="64748B"/>
                </a:solidFill>
              </a:rPr>
              <a:t>Automated CSV student import and pre-seeded block data allow immediate semester kickoff.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1E293B"/>
                </a:solidFill>
              </a:rPr>
              <a:t>• Warden Training: </a:t>
            </a:r>
            <a:r>
              <a:rPr sz="800">
                <a:solidFill>
                  <a:srgbClr val="64748B"/>
                </a:solidFill>
              </a:rPr>
              <a:t>Self-explanatory UI with color-coded status badges and single-click approvals eliminates steep learning curves.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SMART INDIA HACKATHON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HostelHub | Team 76239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01168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2C57"/>
                </a:solidFill>
              </a:defRPr>
            </a:pPr>
            <a:r>
              <a:t>IMPACT, BENEFITS &amp;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- Template    |    Slide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Benefits of the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03520" cy="7772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A56DB"/>
                </a:solidFill>
              </a:defRPr>
            </a:pPr>
            <a:r>
              <a:t>For Students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Instant room allotment tracking, zero paperwork, transparent maintenance ticketing, and direct voice in mess meals.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794322409320"/>
            <a:ext cx="530352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943224093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09567"/>
                </a:solidFill>
              </a:defRPr>
            </a:pPr>
            <a:r>
              <a:t>For Wardens / Admins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Real-time occupancy analytics, single-click allocation approvals, maintenance workflow control, and reduced disputes.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88643401320"/>
            <a:ext cx="5303520" cy="777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886434013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EA580C"/>
                </a:solidFill>
              </a:defRPr>
            </a:pPr>
            <a:r>
              <a:t>For Mess Staff / Caterers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Weekly menu transparency, structured feedback to rectify quality issues, and better inventory predictability.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82964393320"/>
            <a:ext cx="5303520" cy="77724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829643933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6D28D9"/>
                </a:solidFill>
              </a:defRPr>
            </a:pPr>
            <a:r>
              <a:t>For University Management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Audit-ready digital logs, enhanced campus student satisfaction, paperless operations, and improved NAAC/NIRF ranking metrics.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834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2C57"/>
                </a:solidFill>
              </a:defRPr>
            </a:pPr>
            <a:r>
              <a:t>Potential Impacts on Campus Ecosystem: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o Economy: Saves ~1000+ hours of administrative manpower and reams of paper annually.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o Governance: 100% transparent audit trails for room allotment and repair turnaround times.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o Campus Life: Boosts hosteler morale and hygiene via verified, fast complaint resolution.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051560"/>
            <a:ext cx="53035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14300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2C57"/>
                </a:solidFill>
              </a:defRPr>
            </a:pPr>
            <a:r>
              <a:t>Institutional Business &amp; Sustainability Model</a:t>
            </a:r>
          </a:p>
          <a:p>
            <a:pPr>
              <a:spcAft>
                <a:spcPts val="100"/>
              </a:spcAft>
              <a:defRPr sz="950" b="1">
                <a:solidFill>
                  <a:srgbClr val="1A56DB"/>
                </a:solidFill>
              </a:defRPr>
            </a:pPr>
            <a:r>
              <a:t>❖ TARGET CUSTOMERS &amp; USERS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State and Central Universities, Engineering &amp; Medical Colleges, Private Boarding Institutions, Polytechnic Campuses, and Student Housing Chains.</a:t>
            </a:r>
          </a:p>
          <a:p>
            <a:pPr>
              <a:spcAft>
                <a:spcPts val="100"/>
              </a:spcAft>
              <a:defRPr sz="950" b="1">
                <a:solidFill>
                  <a:srgbClr val="6D28D9"/>
                </a:solidFill>
              </a:defRPr>
            </a:pPr>
            <a:r>
              <a:t>❖ VALUE ADDED SERVICES (FUTURE ROADMAP)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• Online UPI Mess Fee Payment Integration.</a:t>
            </a:r>
            <a:br/>
            <a:r>
              <a:t>• QR-Code Based Daily Meal Entry Verification.</a:t>
            </a:r>
            <a:br/>
            <a:r>
              <a:t>• Automated WhatsApp / SMS Broadcast Alerts for Menu Changes and Repairs.</a:t>
            </a:r>
            <a:br/>
            <a:r>
              <a:t>• AI-Powered Predictive Food Wastage Reduction Model.</a:t>
            </a:r>
          </a:p>
          <a:p>
            <a:pPr>
              <a:spcAft>
                <a:spcPts val="100"/>
              </a:spcAft>
              <a:defRPr sz="950" b="1">
                <a:solidFill>
                  <a:srgbClr val="109567"/>
                </a:solidFill>
              </a:defRPr>
            </a:pPr>
            <a:r>
              <a:t>❖ FINANCIAL &amp; SUSTAINABILITY MODEL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• Open-Source Campus Community Tier: 100% free for educational institutions.</a:t>
            </a:r>
            <a:br/>
            <a:r>
              <a:t>• Enterprise White-Label Tier: Custom ERP integration for large multi-campus universities.</a:t>
            </a:r>
            <a:br/>
            <a:r>
              <a:t>• Low-Cost Cloud Maintenance: Lightweight memory footprint (&lt;100MB RAM).</a:t>
            </a:r>
          </a:p>
          <a:p>
            <a:pPr>
              <a:spcAft>
                <a:spcPts val="100"/>
              </a:spcAft>
              <a:defRPr sz="950" b="1">
                <a:solidFill>
                  <a:srgbClr val="EA580C"/>
                </a:solidFill>
              </a:defRPr>
            </a:pPr>
            <a:r>
              <a:t>❖ SCALABILITY PATHWAY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Phase 1: Pilot in 1 University Hostel Block (Tested &amp; Functional)</a:t>
            </a:r>
            <a:br/>
            <a:r>
              <a:t>Phase 2: Scale across all campus hostels &amp; integrate university student IDs</a:t>
            </a:r>
            <a:br/>
            <a:r>
              <a:t>Phase 3: Multi-tenant SaaS architecture for statewide university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SMART INDIA HACKATHON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HostelHub | Team 76239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01168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2C57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- Template    |    Slide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3035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2C57"/>
                </a:solidFill>
              </a:defRPr>
            </a:pPr>
            <a:r>
              <a:t>Sample UI &amp; Functional Modules Developed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A56DB"/>
                </a:solidFill>
              </a:rPr>
              <a:t>✓ Admin KPI Command Center: </a:t>
            </a:r>
            <a:r>
              <a:rPr sz="800">
                <a:solidFill>
                  <a:srgbClr val="1E293B"/>
                </a:solidFill>
              </a:rPr>
              <a:t>Real-time cards for total beds, occupancy percentage (21%), active maintenance, and block-wise vacancy progress bars.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A56DB"/>
                </a:solidFill>
              </a:rPr>
              <a:t>✓ Automated Room Allotment View: </a:t>
            </a:r>
            <a:r>
              <a:rPr sz="800">
                <a:solidFill>
                  <a:srgbClr val="1E293B"/>
                </a:solidFill>
              </a:rPr>
              <a:t>Dropdown automatically populated with only available rooms; one-click student bed allocation with status recalculation.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A56DB"/>
                </a:solidFill>
              </a:rPr>
              <a:t>✓ Maintenance Ticket Management: </a:t>
            </a:r>
            <a:r>
              <a:rPr sz="800">
                <a:solidFill>
                  <a:srgbClr val="1E293B"/>
                </a:solidFill>
              </a:rPr>
              <a:t>Categorized ticket cards (Plumbing, Electrical, Cleaning) with status toggles and technician remarks.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A56DB"/>
                </a:solidFill>
              </a:rPr>
              <a:t>✓ 7-Day Interactive Mess Menu: </a:t>
            </a:r>
            <a:r>
              <a:rPr sz="800">
                <a:solidFill>
                  <a:srgbClr val="1E293B"/>
                </a:solidFill>
              </a:rPr>
              <a:t>Full breakfast, lunch, snacks, and dinner schedules editable by wardens with student star rating displays.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A56DB"/>
                </a:solidFill>
              </a:rPr>
              <a:t>✓ Student Room Application Portal: </a:t>
            </a:r>
            <a:r>
              <a:rPr sz="800">
                <a:solidFill>
                  <a:srgbClr val="1E293B"/>
                </a:solidFill>
              </a:rPr>
              <a:t>Seamless preference submission for boys/girls wings and room types (Single, Double, Triple) with live status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51560"/>
            <a:ext cx="53035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14300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2C57"/>
                </a:solidFill>
              </a:defRPr>
            </a:pPr>
            <a:r>
              <a:t>Academic References, Guidelines &amp; Research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02C57"/>
                </a:solidFill>
              </a:rPr>
              <a:t>o Campus Automation &amp; ERP Systems :
   </a:t>
            </a:r>
            <a:r>
              <a:rPr sz="800">
                <a:solidFill>
                  <a:srgbClr val="64748B"/>
                </a:solidFill>
              </a:rPr>
              <a:t>Sharma, R. et al. (2022). 'Design and Implementation of Automated Student Housing and Resource Management Systems.' International Journal of Advanced Computer Science.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02C57"/>
                </a:solidFill>
              </a:rPr>
              <a:t>o Capacity Allocation Algorithms :
   </a:t>
            </a:r>
            <a:r>
              <a:rPr sz="800">
                <a:solidFill>
                  <a:srgbClr val="64748B"/>
                </a:solidFill>
              </a:rPr>
              <a:t>Kumar, A. &amp; Patel, V. (2021). 'Fairness-Oriented Heuristic Algorithms for University Dormitory Room Allocation.' IEEE Access.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02C57"/>
                </a:solidFill>
              </a:rPr>
              <a:t>o Institutional Quality Benchmarks :
   </a:t>
            </a:r>
            <a:r>
              <a:rPr sz="800">
                <a:solidFill>
                  <a:srgbClr val="64748B"/>
                </a:solidFill>
              </a:rPr>
              <a:t>University Grants Commission (UGC) Guidelines for Student Hostels and Facilities in Higher Educational Institutions (HEIs).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02C57"/>
                </a:solidFill>
              </a:rPr>
              <a:t>o Food Quality &amp; Student Welfare :
   </a:t>
            </a:r>
            <a:r>
              <a:rPr sz="800">
                <a:solidFill>
                  <a:srgbClr val="64748B"/>
                </a:solidFill>
              </a:rPr>
              <a:t>National Assessment and Accreditation Council (NAAC) Criteria IV &amp; V: Student Support, Campus Amenities &amp; Feedback Quality Systems.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02C57"/>
                </a:solidFill>
              </a:rPr>
              <a:t>o Web Security &amp; Session Protocols :
   </a:t>
            </a:r>
            <a:r>
              <a:rPr sz="800">
                <a:solidFill>
                  <a:srgbClr val="64748B"/>
                </a:solidFill>
              </a:rPr>
              <a:t>OWASP Web Security Testing Guide (WSTG v4.2) — Standards for HTTP-Only Cookie Session Security and Privilege Isolation.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